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79" y="274320"/>
            <a:ext cx="4480560" cy="5943600"/>
          </a:xfrm>
          <a:prstGeom prst="rect">
            <a:avLst/>
          </a:prstGeom>
          <a:solidFill>
            <a:srgbClr val="08121E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43800" y="320040"/>
            <a:ext cx="4389120" cy="5852160"/>
          </a:xfrm>
          <a:prstGeom prst="rect">
            <a:avLst/>
          </a:prstGeom>
          <a:solidFill>
            <a:srgbClr val="060E18"/>
          </a:solidFill>
          <a:ln w="9525">
            <a:solidFill>
              <a:srgbClr val="142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63840" y="457200"/>
            <a:ext cx="13716" cy="5669280"/>
          </a:xfrm>
          <a:prstGeom prst="rect">
            <a:avLst/>
          </a:prstGeom>
          <a:solidFill>
            <a:srgbClr val="1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69680" y="457200"/>
            <a:ext cx="13716" cy="5669280"/>
          </a:xfrm>
          <a:prstGeom prst="rect">
            <a:avLst/>
          </a:prstGeom>
          <a:solidFill>
            <a:srgbClr val="1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875520" y="457200"/>
            <a:ext cx="13716" cy="5669280"/>
          </a:xfrm>
          <a:prstGeom prst="rect">
            <a:avLst/>
          </a:prstGeom>
          <a:solidFill>
            <a:srgbClr val="1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81360" y="457200"/>
            <a:ext cx="13716" cy="5669280"/>
          </a:xfrm>
          <a:prstGeom prst="rect">
            <a:avLst/>
          </a:prstGeom>
          <a:solidFill>
            <a:srgbClr val="1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005840"/>
            <a:ext cx="4023360" cy="274320"/>
          </a:xfrm>
          <a:prstGeom prst="rect">
            <a:avLst/>
          </a:prstGeom>
          <a:solidFill>
            <a:srgbClr val="0A1A2E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042416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299E1"/>
                </a:solidFill>
                <a:latin typeface="Microsoft YaHei"/>
              </a:rPr>
              <a:t>AI-POWERED · VOICE OF 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389888"/>
            <a:ext cx="6583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2E8F0"/>
                </a:solidFill>
                <a:latin typeface="Microsoft YaHei"/>
              </a:rPr>
              <a:t>VoC 声量洞察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6583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4299E1"/>
                </a:solidFill>
                <a:latin typeface="Microsoft YaHei"/>
              </a:rPr>
              <a:t>智能分析平台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18096"/>
                </a:solidFill>
                <a:latin typeface="Microsoft YaHei"/>
              </a:rPr>
              <a:t>从海量用户声音到精准洞察，只需一句自然语言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977639"/>
            <a:ext cx="10789920" cy="16459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6E4F7"/>
                </a:solidFill>
                <a:latin typeface="Microsoft YaHei"/>
              </a:rPr>
              <a:t>132,120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365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18096"/>
                </a:solidFill>
                <a:latin typeface="Microsoft YaHei"/>
              </a:rPr>
              <a:t>条 VoC 记录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1148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6E4F7"/>
                </a:solidFill>
                <a:latin typeface="Microsoft YaHei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7365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18096"/>
                </a:solidFill>
                <a:latin typeface="Microsoft YaHei"/>
              </a:rPr>
              <a:t>个分析维度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1148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6E4F7"/>
                </a:solidFill>
                <a:latin typeface="Microsoft YaHei"/>
              </a:rPr>
              <a:t>&lt; 2s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7365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18096"/>
                </a:solidFill>
                <a:latin typeface="Microsoft YaHei"/>
              </a:rPr>
              <a:t>端到端响应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41148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6E4F7"/>
                </a:solidFill>
                <a:latin typeface="Microsoft YaHei"/>
              </a:rPr>
              <a:t>0 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47365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18096"/>
                </a:solidFill>
                <a:latin typeface="Microsoft YaHei"/>
              </a:rPr>
              <a:t>SQL 门槛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257800"/>
            <a:ext cx="1412748" cy="347472"/>
          </a:xfrm>
          <a:prstGeom prst="rect">
            <a:avLst/>
          </a:prstGeom>
          <a:solidFill>
            <a:srgbClr val="0C1622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303520"/>
            <a:ext cx="13395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18096"/>
                </a:solidFill>
                <a:latin typeface="Microsoft YaHei"/>
              </a:rPr>
              <a:t>🤖 LLM驱动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72284" y="5257800"/>
            <a:ext cx="1412748" cy="347472"/>
          </a:xfrm>
          <a:prstGeom prst="rect">
            <a:avLst/>
          </a:prstGeom>
          <a:solidFill>
            <a:srgbClr val="0C1622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82012" y="5303520"/>
            <a:ext cx="13395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18096"/>
                </a:solidFill>
                <a:latin typeface="Microsoft YaHei"/>
              </a:rPr>
              <a:t>⚡ 毫秒级查询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3048" y="5257800"/>
            <a:ext cx="1252728" cy="347472"/>
          </a:xfrm>
          <a:prstGeom prst="rect">
            <a:avLst/>
          </a:prstGeom>
          <a:solidFill>
            <a:srgbClr val="0C1622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22776" y="5303520"/>
            <a:ext cx="117957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18096"/>
                </a:solidFill>
                <a:latin typeface="Microsoft YaHei"/>
              </a:rPr>
              <a:t>📊 自动图表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93792" y="5257800"/>
            <a:ext cx="1252728" cy="347472"/>
          </a:xfrm>
          <a:prstGeom prst="rect">
            <a:avLst/>
          </a:prstGeom>
          <a:solidFill>
            <a:srgbClr val="0C1622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0" y="5303520"/>
            <a:ext cx="117957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18096"/>
                </a:solidFill>
                <a:latin typeface="Microsoft YaHei"/>
              </a:rPr>
              <a:t>🔒 6层安全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74536" y="5257800"/>
            <a:ext cx="2372868" cy="347472"/>
          </a:xfrm>
          <a:prstGeom prst="rect">
            <a:avLst/>
          </a:prstGeom>
          <a:solidFill>
            <a:srgbClr val="0C1622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84264" y="5303520"/>
            <a:ext cx="22997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18096"/>
                </a:solidFill>
                <a:latin typeface="Microsoft YaHei"/>
              </a:rPr>
              <a:t>🧩 Agent SKILL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75488"/>
            <a:ext cx="813816" cy="274320"/>
          </a:xfrm>
          <a:prstGeom prst="rect">
            <a:avLst/>
          </a:prstGeom>
          <a:solidFill>
            <a:srgbClr val="0A1A2E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12064"/>
            <a:ext cx="813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299E1"/>
                </a:solidFill>
                <a:latin typeface="Microsoft YaHei"/>
              </a:rPr>
              <a:t>业务痛点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1091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2E8F0"/>
                </a:solidFill>
                <a:latin typeface="Microsoft YaHei"/>
              </a:rPr>
              <a:t>传统 VoC 分析的三大瓶颈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3611880" cy="4572000"/>
          </a:xfrm>
          <a:prstGeom prst="rect">
            <a:avLst/>
          </a:prstGeom>
          <a:solidFill>
            <a:srgbClr val="10080C"/>
          </a:solidFill>
          <a:ln w="9525">
            <a:solidFill>
              <a:srgbClr val="4A1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2024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E2E8F0"/>
                </a:solidFill>
                <a:latin typeface="Microsoft YaHei"/>
              </a:rPr>
              <a:t>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651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2E8F0"/>
                </a:solidFill>
                <a:latin typeface="Microsoft YaHei"/>
              </a:rPr>
              <a:t>技术门槛高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46120"/>
            <a:ext cx="31089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18096"/>
                </a:solidFill>
                <a:latin typeface="Microsoft YaHei"/>
              </a:rPr>
              <a:t>业务人员依赖数据团队写 SQL，
沟通成本高，响应周期以天计，
严重滞后于决策节奏。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98848" y="1737360"/>
            <a:ext cx="3611880" cy="4572000"/>
          </a:xfrm>
          <a:prstGeom prst="rect">
            <a:avLst/>
          </a:prstGeom>
          <a:solidFill>
            <a:srgbClr val="10080C"/>
          </a:solidFill>
          <a:ln w="9525">
            <a:solidFill>
              <a:srgbClr val="4A1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192024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E2E8F0"/>
                </a:solidFill>
                <a:latin typeface="Microsoft YaHei"/>
              </a:rPr>
              <a:t>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651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2E8F0"/>
                </a:solidFill>
                <a:latin typeface="Microsoft YaHei"/>
              </a:rPr>
              <a:t>洞察严重滞后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3246120"/>
            <a:ext cx="31089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18096"/>
                </a:solidFill>
                <a:latin typeface="Microsoft YaHei"/>
              </a:rPr>
              <a:t>周报月报固定模板，无法按需提问。
热点问题爆发时，
分析报告才刚开始准备。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9328" y="1737360"/>
            <a:ext cx="3611880" cy="4572000"/>
          </a:xfrm>
          <a:prstGeom prst="rect">
            <a:avLst/>
          </a:prstGeom>
          <a:solidFill>
            <a:srgbClr val="10080C"/>
          </a:solidFill>
          <a:ln w="9525">
            <a:solidFill>
              <a:srgbClr val="4A1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13648" y="192024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E2E8F0"/>
                </a:solidFill>
                <a:latin typeface="Microsoft YaHei"/>
              </a:rPr>
              <a:t>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2651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2E8F0"/>
                </a:solidFill>
                <a:latin typeface="Microsoft YaHei"/>
              </a:rPr>
              <a:t>分析深度不足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3246120"/>
            <a:ext cx="31089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18096"/>
                </a:solidFill>
                <a:latin typeface="Microsoft YaHei"/>
              </a:rPr>
              <a:t>人工分析停留在「看数字」，
缺乏多维交叉、趋势对比、
问题归因的系统洞察能力。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75488"/>
            <a:ext cx="813816" cy="274320"/>
          </a:xfrm>
          <a:prstGeom prst="rect">
            <a:avLst/>
          </a:prstGeom>
          <a:solidFill>
            <a:srgbClr val="0A1A2E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12064"/>
            <a:ext cx="813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299E1"/>
                </a:solidFill>
                <a:latin typeface="Microsoft YaHei"/>
              </a:rPr>
              <a:t>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1091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2E8F0"/>
                </a:solidFill>
                <a:latin typeface="Microsoft YaHei"/>
              </a:rPr>
              <a:t>自然语言驱动的全链路分析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8971" y="1719072"/>
            <a:ext cx="1389888" cy="1261872"/>
          </a:xfrm>
          <a:prstGeom prst="rect">
            <a:avLst/>
          </a:prstGeom>
          <a:solidFill>
            <a:srgbClr val="0D1320"/>
          </a:solidFill>
          <a:ln w="9525">
            <a:solidFill>
              <a:srgbClr val="429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03019" y="1828800"/>
            <a:ext cx="6583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2E8F0"/>
                </a:solidFill>
                <a:latin typeface="Microsoft YaHei"/>
              </a:rPr>
              <a:t>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" y="2377440"/>
            <a:ext cx="12984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18096"/>
                </a:solidFill>
                <a:latin typeface="Microsoft YaHei"/>
              </a:rPr>
              <a:t>自然语言
提问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82012" y="2084831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299E1"/>
                </a:solidFill>
                <a:latin typeface="Microsoft YaHe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11196" y="1719072"/>
            <a:ext cx="1389888" cy="1261872"/>
          </a:xfrm>
          <a:prstGeom prst="rect">
            <a:avLst/>
          </a:prstGeom>
          <a:solidFill>
            <a:srgbClr val="0D1320"/>
          </a:solidFill>
          <a:ln w="9525">
            <a:solidFill>
              <a:srgbClr val="7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5244" y="1828800"/>
            <a:ext cx="6583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2E8F0"/>
                </a:solidFill>
                <a:latin typeface="Microsoft YaHei"/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6060" y="2377440"/>
            <a:ext cx="12984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18096"/>
                </a:solidFill>
                <a:latin typeface="Microsoft YaHei"/>
              </a:rPr>
              <a:t>LLM
理解+生成SQL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4235" y="2084831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299E1"/>
                </a:solidFill>
                <a:latin typeface="Microsoft YaHe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03420" y="1719072"/>
            <a:ext cx="1389888" cy="1261872"/>
          </a:xfrm>
          <a:prstGeom prst="rect">
            <a:avLst/>
          </a:prstGeom>
          <a:solidFill>
            <a:srgbClr val="0D1320"/>
          </a:solidFill>
          <a:ln w="9525">
            <a:solidFill>
              <a:srgbClr val="68D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87468" y="1828800"/>
            <a:ext cx="6583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2E8F0"/>
                </a:solidFill>
                <a:latin typeface="Microsoft YaHei"/>
              </a:rPr>
              <a:t>🛡️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8283" y="2377440"/>
            <a:ext cx="12984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18096"/>
                </a:solidFill>
                <a:latin typeface="Microsoft YaHei"/>
              </a:rPr>
              <a:t>6层安全
校验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2084831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299E1"/>
                </a:solidFill>
                <a:latin typeface="Microsoft YaHe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95644" y="1719072"/>
            <a:ext cx="1389888" cy="1261872"/>
          </a:xfrm>
          <a:prstGeom prst="rect">
            <a:avLst/>
          </a:prstGeom>
          <a:solidFill>
            <a:srgbClr val="0D1320"/>
          </a:solidFill>
          <a:ln w="9525">
            <a:solidFill>
              <a:srgbClr val="F6A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9692" y="1828800"/>
            <a:ext cx="6583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2E8F0"/>
                </a:solidFill>
                <a:latin typeface="Microsoft YaHei"/>
              </a:rPr>
              <a:t>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507" y="2377440"/>
            <a:ext cx="12984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18096"/>
                </a:solidFill>
                <a:latin typeface="Microsoft YaHei"/>
              </a:rPr>
              <a:t>DuckDB
毫秒执行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8683" y="2084831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299E1"/>
                </a:solidFill>
                <a:latin typeface="Microsoft YaHe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87867" y="1719072"/>
            <a:ext cx="1389888" cy="1261872"/>
          </a:xfrm>
          <a:prstGeom prst="rect">
            <a:avLst/>
          </a:prstGeom>
          <a:solidFill>
            <a:srgbClr val="0D1320"/>
          </a:solidFill>
          <a:ln w="9525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71915" y="1828800"/>
            <a:ext cx="6583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2E8F0"/>
                </a:solidFill>
                <a:latin typeface="Microsoft YaHei"/>
              </a:rP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2731" y="2377440"/>
            <a:ext cx="12984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18096"/>
                </a:solidFill>
                <a:latin typeface="Microsoft YaHei"/>
              </a:rPr>
              <a:t>自动图表
+ 解读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0907" y="2084831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299E1"/>
                </a:solidFill>
                <a:latin typeface="Microsoft YaHe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80092" y="1719072"/>
            <a:ext cx="1389888" cy="1261872"/>
          </a:xfrm>
          <a:prstGeom prst="rect">
            <a:avLst/>
          </a:prstGeom>
          <a:solidFill>
            <a:srgbClr val="0D1320"/>
          </a:solidFill>
          <a:ln w="9525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64140" y="1828800"/>
            <a:ext cx="6583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2E8F0"/>
                </a:solidFill>
                <a:latin typeface="Microsoft YaHei"/>
              </a:rPr>
              <a:t>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4956" y="2377440"/>
            <a:ext cx="12984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18096"/>
                </a:solidFill>
                <a:latin typeface="Microsoft YaHei"/>
              </a:rPr>
              <a:t>洞察
总结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3291840"/>
            <a:ext cx="2743200" cy="2852928"/>
          </a:xfrm>
          <a:prstGeom prst="rect">
            <a:avLst/>
          </a:prstGeom>
          <a:solidFill>
            <a:srgbClr val="0D1320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" y="349300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6E4F7"/>
                </a:solidFill>
                <a:latin typeface="Microsoft YaHei"/>
              </a:rPr>
              <a:t>⚡ 零门槛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" y="3977639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18096"/>
                </a:solidFill>
                <a:latin typeface="Microsoft YaHei"/>
              </a:rPr>
              <a:t>业务人员直接中文提问，
无需了解SQL或数据结构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38728" y="3291840"/>
            <a:ext cx="2743200" cy="2852928"/>
          </a:xfrm>
          <a:prstGeom prst="rect">
            <a:avLst/>
          </a:prstGeom>
          <a:solidFill>
            <a:srgbClr val="0D1320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21608" y="349300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6E4F7"/>
                </a:solidFill>
                <a:latin typeface="Microsoft YaHei"/>
              </a:rPr>
              <a:t>🔄 实时响应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21608" y="3977639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18096"/>
                </a:solidFill>
                <a:latin typeface="Microsoft YaHei"/>
              </a:rPr>
              <a:t>从提问到图表 &lt; 2秒，
支持批量多需求流式处理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19088" y="3291840"/>
            <a:ext cx="2743200" cy="2852928"/>
          </a:xfrm>
          <a:prstGeom prst="rect">
            <a:avLst/>
          </a:prstGeom>
          <a:solidFill>
            <a:srgbClr val="0D1320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01968" y="349300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6E4F7"/>
                </a:solidFill>
                <a:latin typeface="Microsoft YaHei"/>
              </a:rPr>
              <a:t>🧠 深度洞察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3977639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18096"/>
                </a:solidFill>
                <a:latin typeface="Microsoft YaHei"/>
              </a:rPr>
              <a:t>LLM综合多项结论，
生成专家级洞察总结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99448" y="3291840"/>
            <a:ext cx="2743200" cy="2852928"/>
          </a:xfrm>
          <a:prstGeom prst="rect">
            <a:avLst/>
          </a:prstGeom>
          <a:solidFill>
            <a:srgbClr val="0D1320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82328" y="349300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6E4F7"/>
                </a:solidFill>
                <a:latin typeface="Microsoft YaHei"/>
              </a:rPr>
              <a:t>🔒 安全可控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82328" y="3977639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18096"/>
                </a:solidFill>
                <a:latin typeface="Microsoft YaHei"/>
              </a:rPr>
              <a:t>6层SQL校验，只读查询，
数据不出境，完全内网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75488"/>
            <a:ext cx="1431036" cy="274320"/>
          </a:xfrm>
          <a:prstGeom prst="rect">
            <a:avLst/>
          </a:prstGeom>
          <a:solidFill>
            <a:srgbClr val="0A1A2E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12064"/>
            <a:ext cx="1431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299E1"/>
                </a:solidFill>
                <a:latin typeface="Microsoft YaHei"/>
              </a:rPr>
              <a:t>核心能力 ·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1091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2E8F0"/>
                </a:solidFill>
                <a:latin typeface="Microsoft YaHei"/>
              </a:rPr>
              <a:t>智能问答 — 对话即分析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7818120" cy="4892040"/>
          </a:xfrm>
          <a:prstGeom prst="rect">
            <a:avLst/>
          </a:prstGeom>
          <a:solidFill>
            <a:srgbClr val="0D1320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0" y="1920240"/>
            <a:ext cx="4389120" cy="502920"/>
          </a:xfrm>
          <a:prstGeom prst="rect">
            <a:avLst/>
          </a:prstGeom>
          <a:solidFill>
            <a:srgbClr val="122A40"/>
          </a:solidFill>
          <a:ln w="9525">
            <a:solidFill>
              <a:srgbClr val="2A5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77639" y="1975104"/>
            <a:ext cx="4160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Microsoft YaHei"/>
              </a:rPr>
              <a:t>负向声量最多的前10个具体问题是什么？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42032"/>
            <a:ext cx="7178040" cy="1078992"/>
          </a:xfrm>
          <a:prstGeom prst="rect">
            <a:avLst/>
          </a:prstGeom>
          <a:solidFill>
            <a:srgbClr val="0E1826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15184"/>
            <a:ext cx="6903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Microsoft YaHei"/>
              </a:rPr>
              <a:t>负向声量TOP10中，「手机频繁死机」以 3,421 条位居首位，占负向总量12.3%；其次是「续航差」（2,876条）和「发热严重」（2,134条）。三者合计占负向声量30%以上，是本周期最需重点关注的体验问题。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712463"/>
            <a:ext cx="7178040" cy="438912"/>
          </a:xfrm>
          <a:prstGeom prst="rect">
            <a:avLst/>
          </a:prstGeom>
          <a:solidFill>
            <a:srgbClr val="060C14"/>
          </a:solidFill>
          <a:ln w="9525">
            <a:solidFill>
              <a:srgbClr val="1A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712463"/>
            <a:ext cx="54864" cy="438912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3749039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Microsoft YaHei"/>
              </a:rPr>
              <a:t>SELECT fifth_category, COUNT(*) AS cnt FROM fact_voc WHERE emotion='负向声量' GROUP BY fifth_category ORDER BY cnt DESC LIMIT 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4279392"/>
            <a:ext cx="3108960" cy="438912"/>
          </a:xfrm>
          <a:prstGeom prst="rect">
            <a:avLst/>
          </a:prstGeom>
          <a:solidFill>
            <a:srgbClr val="122A40"/>
          </a:solidFill>
          <a:ln w="9525">
            <a:solidFill>
              <a:srgbClr val="2A5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4334256"/>
            <a:ext cx="2880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Microsoft YaHei"/>
              </a:rPr>
              <a:t>整体情感分布是怎样的？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828032"/>
            <a:ext cx="7178040" cy="713232"/>
          </a:xfrm>
          <a:prstGeom prst="rect">
            <a:avLst/>
          </a:prstGeom>
          <a:solidFill>
            <a:srgbClr val="0E1826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901184"/>
            <a:ext cx="6858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Microsoft YaHei"/>
              </a:rPr>
              <a:t>当前数据集中，负向声量占比67.2%，正向声量21.8%，中性11%。负向比例较高，建议重点关注高频负向问题的改善进展。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32520" y="1719072"/>
            <a:ext cx="3200400" cy="4892040"/>
          </a:xfrm>
          <a:prstGeom prst="rect">
            <a:avLst/>
          </a:prstGeom>
          <a:solidFill>
            <a:srgbClr val="0D1320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1874519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299E1"/>
                </a:solidFill>
                <a:latin typeface="Microsoft YaHei"/>
              </a:rPr>
              <a:t>负向 TOP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331720"/>
            <a:ext cx="12984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Microsoft YaHei"/>
              </a:rPr>
              <a:t>手机频繁死机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22992" y="2386584"/>
            <a:ext cx="1481328" cy="219456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59184" y="2331720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6E4F7"/>
                </a:solidFill>
                <a:latin typeface="Microsoft YaHei"/>
              </a:rPr>
              <a:t>3421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990087"/>
            <a:ext cx="12984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Microsoft YaHei"/>
              </a:rPr>
              <a:t>续航差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22992" y="3044951"/>
            <a:ext cx="1245337" cy="219456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523193" y="2990087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6E4F7"/>
                </a:solidFill>
                <a:latin typeface="Microsoft YaHei"/>
              </a:rPr>
              <a:t>2876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3648456"/>
            <a:ext cx="12984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Microsoft YaHei"/>
              </a:rPr>
              <a:t>发热严重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22992" y="3703320"/>
            <a:ext cx="924043" cy="219456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01899" y="3648456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6E4F7"/>
                </a:solidFill>
                <a:latin typeface="Microsoft YaHei"/>
              </a:rPr>
              <a:t>2134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4306824"/>
            <a:ext cx="12984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Microsoft YaHei"/>
              </a:rPr>
              <a:t>客服推脱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222992" y="4361688"/>
            <a:ext cx="759499" cy="219456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037355" y="430682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6E4F7"/>
                </a:solidFill>
                <a:latin typeface="Microsoft YaHei"/>
              </a:rPr>
              <a:t>1754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4965192"/>
            <a:ext cx="12984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Microsoft YaHei"/>
              </a:rPr>
              <a:t>闪退频繁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22992" y="5020055"/>
            <a:ext cx="635226" cy="219456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13082" y="4965192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6E4F7"/>
                </a:solidFill>
                <a:latin typeface="Microsoft YaHei"/>
              </a:rPr>
              <a:t>1467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15400" y="5650992"/>
            <a:ext cx="182880" cy="1828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9720" y="564184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18096"/>
                </a:solidFill>
                <a:latin typeface="Microsoft YaHei"/>
              </a:rPr>
              <a:t>负向 67.2%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15400" y="5961888"/>
            <a:ext cx="182880" cy="182880"/>
          </a:xfrm>
          <a:prstGeom prst="rect">
            <a:avLst/>
          </a:prstGeom>
          <a:solidFill>
            <a:srgbClr val="68D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89720" y="595274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18096"/>
                </a:solidFill>
                <a:latin typeface="Microsoft YaHei"/>
              </a:rPr>
              <a:t>正向 21.8%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15400" y="6272784"/>
            <a:ext cx="182880" cy="18288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89720" y="62636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18096"/>
                </a:solidFill>
                <a:latin typeface="Microsoft YaHei"/>
              </a:rPr>
              <a:t>中性 11.0%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75488"/>
            <a:ext cx="1431036" cy="274320"/>
          </a:xfrm>
          <a:prstGeom prst="rect">
            <a:avLst/>
          </a:prstGeom>
          <a:solidFill>
            <a:srgbClr val="0A1A2E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12064"/>
            <a:ext cx="1431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299E1"/>
                </a:solidFill>
                <a:latin typeface="Microsoft YaHei"/>
              </a:rPr>
              <a:t>核心能力 ·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1091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2E8F0"/>
                </a:solidFill>
                <a:latin typeface="Microsoft YaHei"/>
              </a:rPr>
              <a:t>洞察分析 — 批量需求，一气呵成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7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5440680" cy="585216"/>
          </a:xfrm>
          <a:prstGeom prst="rect">
            <a:avLst/>
          </a:prstGeom>
          <a:solidFill>
            <a:srgbClr val="0D1320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470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299E1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847088"/>
            <a:ext cx="4160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Microsoft YaHei"/>
              </a:rPr>
              <a:t>当前数据一共多少条记录？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79008" y="1929384"/>
            <a:ext cx="164592" cy="164592"/>
          </a:xfrm>
          <a:prstGeom prst="rect">
            <a:avLst/>
          </a:prstGeom>
          <a:solidFill>
            <a:srgbClr val="68D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2423160"/>
            <a:ext cx="5440680" cy="585216"/>
          </a:xfrm>
          <a:prstGeom prst="rect">
            <a:avLst/>
          </a:prstGeom>
          <a:solidFill>
            <a:srgbClr val="0D1320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511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299E1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551176"/>
            <a:ext cx="4160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Microsoft YaHei"/>
              </a:rPr>
              <a:t>负向声量最多的前 10 个问题？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79008" y="2633472"/>
            <a:ext cx="164592" cy="164592"/>
          </a:xfrm>
          <a:prstGeom prst="rect">
            <a:avLst/>
          </a:prstGeom>
          <a:solidFill>
            <a:srgbClr val="68D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127248"/>
            <a:ext cx="5440680" cy="585216"/>
          </a:xfrm>
          <a:prstGeom prst="rect">
            <a:avLst/>
          </a:prstGeom>
          <a:solidFill>
            <a:srgbClr val="0D1320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25526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299E1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255264"/>
            <a:ext cx="4160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Microsoft YaHei"/>
              </a:rPr>
              <a:t>最近几个月的声量趋势？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79008" y="3337560"/>
            <a:ext cx="164592" cy="164592"/>
          </a:xfrm>
          <a:prstGeom prst="rect">
            <a:avLst/>
          </a:prstGeom>
          <a:solidFill>
            <a:srgbClr val="68D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831335"/>
            <a:ext cx="5440680" cy="585216"/>
          </a:xfrm>
          <a:prstGeom prst="rect">
            <a:avLst/>
          </a:prstGeom>
          <a:solidFill>
            <a:srgbClr val="0D1320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959351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299E1"/>
                </a:solidFill>
                <a:latin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959351"/>
            <a:ext cx="4160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Microsoft YaHei"/>
              </a:rPr>
              <a:t>各渠道负向占比是多少？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79008" y="4041648"/>
            <a:ext cx="164592" cy="164592"/>
          </a:xfrm>
          <a:prstGeom prst="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535424"/>
            <a:ext cx="5440680" cy="585216"/>
          </a:xfrm>
          <a:prstGeom prst="rect">
            <a:avLst/>
          </a:prstGeom>
          <a:solidFill>
            <a:srgbClr val="0D1320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66344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299E1"/>
                </a:solidFill>
                <a:latin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4663440"/>
            <a:ext cx="4160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Microsoft YaHei"/>
              </a:rPr>
              <a:t>本月 vs 上月负向投诉增长最多？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79008" y="4745736"/>
            <a:ext cx="164592" cy="164592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5239512"/>
            <a:ext cx="5440680" cy="585216"/>
          </a:xfrm>
          <a:prstGeom prst="rect">
            <a:avLst/>
          </a:prstGeom>
          <a:solidFill>
            <a:srgbClr val="0D1320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36752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299E1"/>
                </a:solidFill>
                <a:latin typeface="Microsoft YaHe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5367528"/>
            <a:ext cx="4160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Microsoft YaHei"/>
              </a:rPr>
              <a:t>整体情感分布是怎样的？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79008" y="5449824"/>
            <a:ext cx="164592" cy="164592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92240" y="1719072"/>
            <a:ext cx="5394960" cy="4892040"/>
          </a:xfrm>
          <a:prstGeom prst="rect">
            <a:avLst/>
          </a:prstGeom>
          <a:solidFill>
            <a:srgbClr val="0D1320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190195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6E4F7"/>
                </a:solidFill>
                <a:latin typeface="Microsoft YaHei"/>
              </a:rPr>
              <a:t>▍ AI 核心洞察总结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2423160"/>
            <a:ext cx="50749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Microsoft YaHei"/>
              </a:rPr>
              <a:t>本周期数据共 132,120 条，负向声量占比高达 67%，以「手机频繁死机」「续航差」「发热严重」为主要问题，三者合计占负向总量 30%。
月度趋势显示近 3 个月负向声量环比上升 15%，社媒渠道增幅最显著。
建议优先推进续航与散热专项改善，重点监控社媒渠道舆情，设置关键词预警机制。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5870448"/>
            <a:ext cx="1252728" cy="347472"/>
          </a:xfrm>
          <a:prstGeom prst="rect">
            <a:avLst/>
          </a:prstGeom>
          <a:solidFill>
            <a:srgbClr val="0A1A2E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84848" y="5916168"/>
            <a:ext cx="1161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  <a:latin typeface="Microsoft YaHei"/>
              </a:rPr>
              <a:t>📍 续航·高优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55864" y="5870448"/>
            <a:ext cx="1527048" cy="347472"/>
          </a:xfrm>
          <a:prstGeom prst="rect">
            <a:avLst/>
          </a:prstGeom>
          <a:solidFill>
            <a:srgbClr val="0A1A2E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65592" y="5916168"/>
            <a:ext cx="14356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  <a:latin typeface="Microsoft YaHei"/>
              </a:rPr>
              <a:t>📈 社媒·增速最快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10928" y="5870448"/>
            <a:ext cx="1527048" cy="347472"/>
          </a:xfrm>
          <a:prstGeom prst="rect">
            <a:avLst/>
          </a:prstGeom>
          <a:solidFill>
            <a:srgbClr val="0A1A2E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20656" y="5916168"/>
            <a:ext cx="14356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  <a:latin typeface="Microsoft YaHei"/>
              </a:rPr>
              <a:t>⚡ 散热·建议跟进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8D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75488"/>
            <a:ext cx="1431036" cy="274320"/>
          </a:xfrm>
          <a:prstGeom prst="rect">
            <a:avLst/>
          </a:prstGeom>
          <a:solidFill>
            <a:srgbClr val="0A1A2E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12064"/>
            <a:ext cx="1431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299E1"/>
                </a:solidFill>
                <a:latin typeface="Microsoft YaHei"/>
              </a:rPr>
              <a:t>核心能力 ·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1091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2E8F0"/>
                </a:solidFill>
                <a:latin typeface="Microsoft YaHei"/>
              </a:rPr>
              <a:t>Agent SKILL — 融入任意工作流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68D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5074920" cy="841248"/>
          </a:xfrm>
          <a:prstGeom prst="rect">
            <a:avLst/>
          </a:prstGeom>
          <a:solidFill>
            <a:srgbClr val="0D1320"/>
          </a:solidFill>
          <a:ln w="9525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83664"/>
            <a:ext cx="475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  <a:latin typeface="Microsoft YaHei"/>
              </a:rP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81051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E8F0"/>
                </a:solidFill>
                <a:latin typeface="Microsoft YaHei"/>
              </a:rPr>
              <a:t>调用方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21284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18096"/>
                </a:solidFill>
                <a:latin typeface="Microsoft YaHei"/>
              </a:rPr>
              <a:t>Claude / GPT / Dify / Coze / 自研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258775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299E1"/>
                </a:solidFill>
                <a:latin typeface="Microsoft YaHei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596896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  <a:latin typeface="Microsoft YaHei"/>
              </a:rPr>
              <a:t>传入 background + items[]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889504"/>
            <a:ext cx="5074920" cy="841248"/>
          </a:xfrm>
          <a:prstGeom prst="rect">
            <a:avLst/>
          </a:prstGeom>
          <a:solidFill>
            <a:srgbClr val="0D1320"/>
          </a:solidFill>
          <a:ln w="9525">
            <a:solidFill>
              <a:srgbClr val="429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054096"/>
            <a:ext cx="475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  <a:latin typeface="Microsoft YaHei"/>
              </a:rPr>
              <a:t>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298094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E8F0"/>
                </a:solidFill>
                <a:latin typeface="Microsoft YaHei"/>
              </a:rPr>
              <a:t>voc-insight SKILL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3832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18096"/>
                </a:solidFill>
                <a:latin typeface="Microsoft YaHei"/>
              </a:rPr>
              <a:t>scripts/generate_report.py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3758184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299E1"/>
                </a:solidFill>
                <a:latin typeface="Microsoft YaHei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76732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  <a:latin typeface="Microsoft YaHei"/>
              </a:rPr>
              <a:t>/api/ask × N 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059935"/>
            <a:ext cx="5074920" cy="841248"/>
          </a:xfrm>
          <a:prstGeom prst="rect">
            <a:avLst/>
          </a:prstGeom>
          <a:solidFill>
            <a:srgbClr val="0D1320"/>
          </a:solidFill>
          <a:ln w="9525">
            <a:solidFill>
              <a:srgbClr val="68D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224527"/>
            <a:ext cx="475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  <a:latin typeface="Microsoft YaHei"/>
              </a:rPr>
              <a:t>🗄️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4151375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E8F0"/>
                </a:solidFill>
                <a:latin typeface="Microsoft YaHei"/>
              </a:rPr>
              <a:t>VoC 服务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455371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18096"/>
                </a:solidFill>
                <a:latin typeface="Microsoft YaHei"/>
              </a:rPr>
              <a:t>FastAPI · DuckDB · 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9232" y="4928616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299E1"/>
                </a:solidFill>
                <a:latin typeface="Microsoft YaHei"/>
              </a:rP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4937759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  <a:latin typeface="Microsoft YaHei"/>
              </a:rPr>
              <a:t>返回结构化 JSON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5230368"/>
            <a:ext cx="5074920" cy="841248"/>
          </a:xfrm>
          <a:prstGeom prst="rect">
            <a:avLst/>
          </a:prstGeom>
          <a:solidFill>
            <a:srgbClr val="0D1320"/>
          </a:solidFill>
          <a:ln w="9525">
            <a:solidFill>
              <a:srgbClr val="F6A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394959"/>
            <a:ext cx="475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  <a:latin typeface="Microsoft YaHei"/>
              </a:rPr>
              <a:t>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4752" y="5321807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E8F0"/>
                </a:solidFill>
                <a:latin typeface="Microsoft YaHei"/>
              </a:rPr>
              <a:t>Markdown 报告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4752" y="572414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18096"/>
                </a:solidFill>
                <a:latin typeface="Microsoft YaHei"/>
              </a:rPr>
              <a:t>Mermaid图表 · MD表格 · 洞察总结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44768" y="1719072"/>
            <a:ext cx="5715000" cy="4160520"/>
          </a:xfrm>
          <a:prstGeom prst="rect">
            <a:avLst/>
          </a:prstGeom>
          <a:solidFill>
            <a:srgbClr val="081018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1901952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E8F0"/>
                </a:solidFill>
                <a:latin typeface="Microsoft YaHei"/>
              </a:rPr>
              <a:t># VoC 洞察分析报告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2304288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18096"/>
                </a:solidFill>
                <a:latin typeface="Microsoft YaHei"/>
              </a:rPr>
              <a:t>_生成时间：2026-04-24 09:30_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269748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6E4F7"/>
                </a:solidFill>
                <a:latin typeface="Microsoft YaHei"/>
              </a:rPr>
              <a:t>## 1. 负向声量 TOP 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3063240"/>
            <a:ext cx="5349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99E1"/>
                </a:solidFill>
                <a:latin typeface="Microsoft YaHei"/>
              </a:rPr>
              <a:t>```mermaid
xychart-beta
  title "负向 TOP 10"
  bar [3421, 2876, 2134...]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379476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6AD55"/>
                </a:solidFill>
                <a:latin typeface="Microsoft YaHei"/>
              </a:rPr>
              <a:t>&gt; 「手机频繁死机」以 3,421 条位居首位...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420624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6E4F7"/>
                </a:solidFill>
                <a:latin typeface="Microsoft YaHei"/>
              </a:rPr>
              <a:t>## 核心洞察总结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7648" y="457200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Microsoft YaHei"/>
              </a:rPr>
              <a:t>本周期负向声量占比67%，建议优先处理续航与散热专项问题...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44768" y="5989320"/>
            <a:ext cx="1901952" cy="384048"/>
          </a:xfrm>
          <a:prstGeom prst="rect">
            <a:avLst/>
          </a:prstGeom>
          <a:solidFill>
            <a:srgbClr val="0A141E"/>
          </a:solidFill>
          <a:ln w="9525">
            <a:solidFill>
              <a:srgbClr val="429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54496" y="6035040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299E1"/>
                </a:solidFill>
                <a:latin typeface="Microsoft YaHei"/>
              </a:rPr>
              <a:t>✓ Mermaid图表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83879" y="5989320"/>
            <a:ext cx="1170432" cy="384048"/>
          </a:xfrm>
          <a:prstGeom prst="rect">
            <a:avLst/>
          </a:prstGeom>
          <a:solidFill>
            <a:srgbClr val="0A141E"/>
          </a:solidFill>
          <a:ln w="9525">
            <a:solidFill>
              <a:srgbClr val="68D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93607" y="6035040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8D391"/>
                </a:solidFill>
                <a:latin typeface="Microsoft YaHei"/>
              </a:rPr>
              <a:t>✓ 平台通用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91472" y="5989320"/>
            <a:ext cx="2633472" cy="384048"/>
          </a:xfrm>
          <a:prstGeom prst="rect">
            <a:avLst/>
          </a:prstGeom>
          <a:solidFill>
            <a:srgbClr val="0A141E"/>
          </a:solidFill>
          <a:ln w="9525">
            <a:solidFill>
              <a:srgbClr val="F6A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199" y="6035040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6AD55"/>
                </a:solidFill>
                <a:latin typeface="Microsoft YaHei"/>
              </a:rPr>
              <a:t>✓ --no-mermaid降级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75488"/>
            <a:ext cx="813816" cy="274320"/>
          </a:xfrm>
          <a:prstGeom prst="rect">
            <a:avLst/>
          </a:prstGeom>
          <a:solidFill>
            <a:srgbClr val="0A1A2E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12064"/>
            <a:ext cx="813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299E1"/>
                </a:solidFill>
                <a:latin typeface="Microsoft YaHei"/>
              </a:rPr>
              <a:t>技术架构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1091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2E8F0"/>
                </a:solidFill>
                <a:latin typeface="Microsoft YaHei"/>
              </a:rPr>
              <a:t>轻量 · 高效 · 开箱即用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5486400" cy="2331720"/>
          </a:xfrm>
          <a:prstGeom prst="rect">
            <a:avLst/>
          </a:prstGeom>
          <a:solidFill>
            <a:srgbClr val="0D1320"/>
          </a:solidFill>
          <a:ln w="9525">
            <a:solidFill>
              <a:srgbClr val="429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56231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299E1"/>
                </a:solidFill>
                <a:latin typeface="Microsoft YaHei"/>
              </a:rPr>
              <a:t>API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76272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2E8F0"/>
                </a:solidFill>
                <a:latin typeface="Microsoft YaHei"/>
              </a:rPr>
              <a:t>⚡ 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724912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18096"/>
                </a:solidFill>
                <a:latin typeface="Microsoft YaHei"/>
              </a:rPr>
              <a:t>异步高性能API框架，SSE流式推送，
8个核心路由覆盖全部业务能力。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7" y="3639312"/>
            <a:ext cx="1700784" cy="274320"/>
          </a:xfrm>
          <a:prstGeom prst="rect">
            <a:avLst/>
          </a:prstGeom>
          <a:solidFill>
            <a:srgbClr val="0A1828"/>
          </a:solidFill>
          <a:ln w="9525">
            <a:solidFill>
              <a:srgbClr val="1A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675887"/>
            <a:ext cx="1655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6E4F7"/>
                </a:solidFill>
                <a:latin typeface="Microsoft YaHei"/>
              </a:rPr>
              <a:t>Python 3.11+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3639312"/>
            <a:ext cx="1106424" cy="274320"/>
          </a:xfrm>
          <a:prstGeom prst="rect">
            <a:avLst/>
          </a:prstGeom>
          <a:solidFill>
            <a:srgbClr val="0A1828"/>
          </a:solidFill>
          <a:ln w="9525">
            <a:solidFill>
              <a:srgbClr val="1A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3675887"/>
            <a:ext cx="1060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6E4F7"/>
                </a:solidFill>
                <a:latin typeface="Microsoft YaHei"/>
              </a:rPr>
              <a:t>uvicorn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67912" y="3639312"/>
            <a:ext cx="630936" cy="274320"/>
          </a:xfrm>
          <a:prstGeom prst="rect">
            <a:avLst/>
          </a:prstGeom>
          <a:solidFill>
            <a:srgbClr val="0A1828"/>
          </a:solidFill>
          <a:ln w="9525">
            <a:solidFill>
              <a:srgbClr val="1A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9352" y="3675887"/>
            <a:ext cx="5852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6E4F7"/>
                </a:solidFill>
                <a:latin typeface="Microsoft YaHei"/>
              </a:rPr>
              <a:t>SSE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08576" y="3639312"/>
            <a:ext cx="1225296" cy="274320"/>
          </a:xfrm>
          <a:prstGeom prst="rect">
            <a:avLst/>
          </a:prstGeom>
          <a:solidFill>
            <a:srgbClr val="0A1828"/>
          </a:solidFill>
          <a:ln w="9525">
            <a:solidFill>
              <a:srgbClr val="1A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0016" y="3675887"/>
            <a:ext cx="1179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6E4F7"/>
                </a:solidFill>
                <a:latin typeface="Microsoft YaHei"/>
              </a:rPr>
              <a:t>Pydantic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64807" y="1719072"/>
            <a:ext cx="5486400" cy="2331720"/>
          </a:xfrm>
          <a:prstGeom prst="rect">
            <a:avLst/>
          </a:prstGeom>
          <a:solidFill>
            <a:srgbClr val="0D1320"/>
          </a:solidFill>
          <a:ln w="9525">
            <a:solidFill>
              <a:srgbClr val="7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1856231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6E4F7"/>
                </a:solidFill>
                <a:latin typeface="Microsoft YaHei"/>
              </a:rPr>
              <a:t>DATA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2176272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2E8F0"/>
                </a:solidFill>
                <a:latin typeface="Microsoft YaHei"/>
              </a:rPr>
              <a:t>🦆 DuckDB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7688" y="2724912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18096"/>
                </a:solidFill>
                <a:latin typeface="Microsoft YaHei"/>
              </a:rPr>
              <a:t>纯内存列式数据库，132K行数据
毫秒级查询，零服务依赖部署。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47688" y="3639312"/>
            <a:ext cx="1344168" cy="274320"/>
          </a:xfrm>
          <a:prstGeom prst="rect">
            <a:avLst/>
          </a:prstGeom>
          <a:solidFill>
            <a:srgbClr val="0A1828"/>
          </a:solidFill>
          <a:ln w="9525">
            <a:solidFill>
              <a:srgbClr val="1A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39127" y="3675887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6E4F7"/>
                </a:solidFill>
                <a:latin typeface="Microsoft YaHei"/>
              </a:rPr>
              <a:t>In-Memory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01583" y="3639312"/>
            <a:ext cx="749808" cy="274320"/>
          </a:xfrm>
          <a:prstGeom prst="rect">
            <a:avLst/>
          </a:prstGeom>
          <a:solidFill>
            <a:srgbClr val="0A1828"/>
          </a:solidFill>
          <a:ln w="9525">
            <a:solidFill>
              <a:srgbClr val="1A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93023" y="3675887"/>
            <a:ext cx="704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6E4F7"/>
                </a:solidFill>
                <a:latin typeface="Microsoft YaHei"/>
              </a:rPr>
              <a:t>列式存储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19" y="3639312"/>
            <a:ext cx="1106424" cy="274320"/>
          </a:xfrm>
          <a:prstGeom prst="rect">
            <a:avLst/>
          </a:prstGeom>
          <a:solidFill>
            <a:srgbClr val="0A1828"/>
          </a:solidFill>
          <a:ln w="9525">
            <a:solidFill>
              <a:srgbClr val="1A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59" y="3675887"/>
            <a:ext cx="1060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6E4F7"/>
                </a:solidFill>
                <a:latin typeface="Microsoft YaHei"/>
              </a:rPr>
              <a:t>&lt;10ms查询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77272" y="3639312"/>
            <a:ext cx="1106424" cy="274320"/>
          </a:xfrm>
          <a:prstGeom prst="rect">
            <a:avLst/>
          </a:prstGeom>
          <a:solidFill>
            <a:srgbClr val="0A1828"/>
          </a:solidFill>
          <a:ln w="9525">
            <a:solidFill>
              <a:srgbClr val="1A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68711" y="3675887"/>
            <a:ext cx="1060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6E4F7"/>
                </a:solidFill>
                <a:latin typeface="Microsoft YaHei"/>
              </a:rPr>
              <a:t>CSV自动识别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187952"/>
            <a:ext cx="5486400" cy="2331720"/>
          </a:xfrm>
          <a:prstGeom prst="rect">
            <a:avLst/>
          </a:prstGeom>
          <a:solidFill>
            <a:srgbClr val="0D1320"/>
          </a:solidFill>
          <a:ln w="9525">
            <a:solidFill>
              <a:srgbClr val="F6A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" y="432511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6AD55"/>
                </a:solidFill>
                <a:latin typeface="Microsoft YaHei"/>
              </a:rPr>
              <a:t>AI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" y="4645152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2E8F0"/>
                </a:solidFill>
                <a:latin typeface="Microsoft YaHei"/>
              </a:rPr>
              <a:t>🤖 LLM Client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7" y="5193792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18096"/>
                </a:solidFill>
                <a:latin typeface="Microsoft YaHei"/>
              </a:rPr>
              <a:t>OpenAI兼容接口，任意模型切换，
自动重试，&lt;think&gt;标签过滤。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7" y="6108192"/>
            <a:ext cx="1225296" cy="274320"/>
          </a:xfrm>
          <a:prstGeom prst="rect">
            <a:avLst/>
          </a:prstGeom>
          <a:solidFill>
            <a:srgbClr val="0A1828"/>
          </a:solidFill>
          <a:ln w="9525">
            <a:solidFill>
              <a:srgbClr val="1A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6144768"/>
            <a:ext cx="1179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6E4F7"/>
                </a:solidFill>
                <a:latin typeface="Microsoft YaHei"/>
              </a:rPr>
              <a:t>OpenAI兼容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76272" y="6108192"/>
            <a:ext cx="749808" cy="274320"/>
          </a:xfrm>
          <a:prstGeom prst="rect">
            <a:avLst/>
          </a:prstGeom>
          <a:solidFill>
            <a:srgbClr val="0A1828"/>
          </a:solidFill>
          <a:ln w="9525">
            <a:solidFill>
              <a:srgbClr val="1A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67712" y="6144768"/>
            <a:ext cx="704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6E4F7"/>
                </a:solidFill>
                <a:latin typeface="Microsoft YaHei"/>
              </a:rPr>
              <a:t>流式输出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35808" y="6108192"/>
            <a:ext cx="749808" cy="274320"/>
          </a:xfrm>
          <a:prstGeom prst="rect">
            <a:avLst/>
          </a:prstGeom>
          <a:solidFill>
            <a:srgbClr val="0A1828"/>
          </a:solidFill>
          <a:ln w="9525">
            <a:solidFill>
              <a:srgbClr val="1A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27248" y="6144768"/>
            <a:ext cx="704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6E4F7"/>
                </a:solidFill>
                <a:latin typeface="Microsoft YaHei"/>
              </a:rPr>
              <a:t>自动重试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95344" y="6108192"/>
            <a:ext cx="749808" cy="274320"/>
          </a:xfrm>
          <a:prstGeom prst="rect">
            <a:avLst/>
          </a:prstGeom>
          <a:solidFill>
            <a:srgbClr val="0A1828"/>
          </a:solidFill>
          <a:ln w="9525">
            <a:solidFill>
              <a:srgbClr val="1A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86783" y="6144768"/>
            <a:ext cx="704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6E4F7"/>
                </a:solidFill>
                <a:latin typeface="Microsoft YaHei"/>
              </a:rPr>
              <a:t>代理绕过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64807" y="4187952"/>
            <a:ext cx="5486400" cy="2331720"/>
          </a:xfrm>
          <a:prstGeom prst="rect">
            <a:avLst/>
          </a:prstGeom>
          <a:solidFill>
            <a:srgbClr val="0D1320"/>
          </a:solidFill>
          <a:ln w="9525">
            <a:solidFill>
              <a:srgbClr val="68D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47688" y="432511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8D391"/>
                </a:solidFill>
                <a:latin typeface="Microsoft YaHei"/>
              </a:rPr>
              <a:t>SECURITY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47688" y="4645152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2E8F0"/>
                </a:solidFill>
                <a:latin typeface="Microsoft YaHei"/>
              </a:rPr>
              <a:t>🛡️ SqlGuard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47688" y="5193792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18096"/>
                </a:solidFill>
                <a:latin typeface="Microsoft YaHei"/>
              </a:rPr>
              <a:t>6层安全校验：注释剥除→多语句
拦截→SELECT限制→黑名单→白名单→LIMIT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47688" y="6108192"/>
            <a:ext cx="749808" cy="274320"/>
          </a:xfrm>
          <a:prstGeom prst="rect">
            <a:avLst/>
          </a:prstGeom>
          <a:solidFill>
            <a:srgbClr val="0A1828"/>
          </a:solidFill>
          <a:ln w="9525">
            <a:solidFill>
              <a:srgbClr val="1A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39127" y="6144768"/>
            <a:ext cx="704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6E4F7"/>
                </a:solidFill>
                <a:latin typeface="Microsoft YaHei"/>
              </a:rPr>
              <a:t>注释剥除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07223" y="6108192"/>
            <a:ext cx="868680" cy="274320"/>
          </a:xfrm>
          <a:prstGeom prst="rect">
            <a:avLst/>
          </a:prstGeom>
          <a:solidFill>
            <a:srgbClr val="0A1828"/>
          </a:solidFill>
          <a:ln w="9525">
            <a:solidFill>
              <a:srgbClr val="1A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98663" y="6144768"/>
            <a:ext cx="8229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6E4F7"/>
                </a:solidFill>
                <a:latin typeface="Microsoft YaHei"/>
              </a:rPr>
              <a:t>多语句拦截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85632" y="6108192"/>
            <a:ext cx="749808" cy="274320"/>
          </a:xfrm>
          <a:prstGeom prst="rect">
            <a:avLst/>
          </a:prstGeom>
          <a:solidFill>
            <a:srgbClr val="0A1828"/>
          </a:solidFill>
          <a:ln w="9525">
            <a:solidFill>
              <a:srgbClr val="1A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77072" y="6144768"/>
            <a:ext cx="704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6E4F7"/>
                </a:solidFill>
                <a:latin typeface="Microsoft YaHei"/>
              </a:rPr>
              <a:t>表白名单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45167" y="6108192"/>
            <a:ext cx="1106424" cy="274320"/>
          </a:xfrm>
          <a:prstGeom prst="rect">
            <a:avLst/>
          </a:prstGeom>
          <a:solidFill>
            <a:srgbClr val="0A1828"/>
          </a:solidFill>
          <a:ln w="9525">
            <a:solidFill>
              <a:srgbClr val="1A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36607" y="6144768"/>
            <a:ext cx="1060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6E4F7"/>
                </a:solidFill>
                <a:latin typeface="Microsoft YaHei"/>
              </a:rPr>
              <a:t>自动LIMIT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75488"/>
            <a:ext cx="813816" cy="274320"/>
          </a:xfrm>
          <a:prstGeom prst="rect">
            <a:avLst/>
          </a:prstGeom>
          <a:solidFill>
            <a:srgbClr val="0A1A2E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12064"/>
            <a:ext cx="813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299E1"/>
                </a:solidFill>
                <a:latin typeface="Microsoft YaHei"/>
              </a:rPr>
              <a:t>数据能力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1091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2E8F0"/>
                </a:solidFill>
                <a:latin typeface="Microsoft YaHei"/>
              </a:rPr>
              <a:t>真实数据驱动，零幻觉配置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7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2743200" cy="2423160"/>
          </a:xfrm>
          <a:prstGeom prst="rect">
            <a:avLst/>
          </a:prstGeom>
          <a:solidFill>
            <a:srgbClr val="0D1320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847088"/>
            <a:ext cx="2468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76E4F7"/>
                </a:solidFill>
                <a:latin typeface="Microsoft YaHei"/>
              </a:rPr>
              <a:t>13.2W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69748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18096"/>
                </a:solidFill>
                <a:latin typeface="Microsoft YaHei"/>
              </a:rPr>
              <a:t>条 VoC 记录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1546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18096"/>
                </a:solidFill>
                <a:latin typeface="Microsoft YaHei"/>
              </a:rPr>
              <a:t>实时内存加载
毫秒级响应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38728" y="1719072"/>
            <a:ext cx="2743200" cy="2423160"/>
          </a:xfrm>
          <a:prstGeom prst="rect">
            <a:avLst/>
          </a:prstGeom>
          <a:solidFill>
            <a:srgbClr val="0D1320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8" y="1847088"/>
            <a:ext cx="2468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76E4F7"/>
                </a:solidFill>
                <a:latin typeface="Microsoft YaHei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8" y="269748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18096"/>
                </a:solidFill>
                <a:latin typeface="Microsoft YaHei"/>
              </a:rPr>
              <a:t>个分析维度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8" y="31546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18096"/>
                </a:solidFill>
                <a:latin typeface="Microsoft YaHei"/>
              </a:rPr>
              <a:t>情感·渠道·分类
时间·内容·关键词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19088" y="1719072"/>
            <a:ext cx="2743200" cy="2423160"/>
          </a:xfrm>
          <a:prstGeom prst="rect">
            <a:avLst/>
          </a:prstGeom>
          <a:solidFill>
            <a:srgbClr val="0D1320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1847088"/>
            <a:ext cx="2468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76E4F7"/>
                </a:solidFill>
                <a:latin typeface="Microsoft YaHei"/>
              </a:rPr>
              <a:t>9+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69748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18096"/>
                </a:solidFill>
                <a:latin typeface="Microsoft YaHei"/>
              </a:rPr>
              <a:t>条 Few-shot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31546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18096"/>
                </a:solidFill>
                <a:latin typeface="Microsoft YaHei"/>
              </a:rPr>
              <a:t>从真实数据反算
枚举值100%真实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99448" y="1719072"/>
            <a:ext cx="2743200" cy="2423160"/>
          </a:xfrm>
          <a:prstGeom prst="rect">
            <a:avLst/>
          </a:prstGeom>
          <a:solidFill>
            <a:srgbClr val="0D1320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36608" y="1847088"/>
            <a:ext cx="2468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76E4F7"/>
                </a:solidFill>
                <a:latin typeface="Microsoft YaHe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6608" y="269748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18096"/>
                </a:solidFill>
                <a:latin typeface="Microsoft YaHei"/>
              </a:rPr>
              <a:t>层安全校验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36608" y="31546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18096"/>
                </a:solidFill>
                <a:latin typeface="Microsoft YaHei"/>
              </a:rPr>
              <a:t>只读查询
数据不出境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37083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18096"/>
                </a:solidFill>
                <a:latin typeface="Microsoft YaHei"/>
              </a:rPr>
              <a:t>FACT_VOC · 字段清单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828032"/>
            <a:ext cx="1650492" cy="347472"/>
          </a:xfrm>
          <a:prstGeom prst="rect">
            <a:avLst/>
          </a:prstGeom>
          <a:solidFill>
            <a:srgbClr val="0A182A"/>
          </a:solidFill>
          <a:ln w="9525">
            <a:solidFill>
              <a:srgbClr val="2A5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4882896"/>
            <a:ext cx="15590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99E1"/>
                </a:solidFill>
                <a:latin typeface="Microsoft YaHei"/>
              </a:rPr>
              <a:t>pt_d · 数据日期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18588" y="4828032"/>
            <a:ext cx="2020824" cy="347472"/>
          </a:xfrm>
          <a:prstGeom prst="rect">
            <a:avLst/>
          </a:prstGeom>
          <a:solidFill>
            <a:srgbClr val="0A182A"/>
          </a:solidFill>
          <a:ln w="9525">
            <a:solidFill>
              <a:srgbClr val="2A5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28316" y="4882896"/>
            <a:ext cx="1929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99E1"/>
                </a:solidFill>
                <a:latin typeface="Microsoft YaHei"/>
              </a:rPr>
              <a:t>emotion · 情感极性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49140" y="4828032"/>
            <a:ext cx="2391156" cy="347472"/>
          </a:xfrm>
          <a:prstGeom prst="rect">
            <a:avLst/>
          </a:prstGeom>
          <a:solidFill>
            <a:srgbClr val="0A182A"/>
          </a:solidFill>
          <a:ln w="9525">
            <a:solidFill>
              <a:srgbClr val="2A5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58868" y="4882896"/>
            <a:ext cx="22997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99E1"/>
                </a:solidFill>
                <a:latin typeface="Microsoft YaHei"/>
              </a:rPr>
              <a:t>data_channel · 渠道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50024" y="4828032"/>
            <a:ext cx="2884932" cy="347472"/>
          </a:xfrm>
          <a:prstGeom prst="rect">
            <a:avLst/>
          </a:prstGeom>
          <a:solidFill>
            <a:srgbClr val="0A182A"/>
          </a:solidFill>
          <a:ln w="9525">
            <a:solidFill>
              <a:srgbClr val="2A5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59752" y="4882896"/>
            <a:ext cx="27934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99E1"/>
                </a:solidFill>
                <a:latin typeface="Microsoft YaHei"/>
              </a:rPr>
              <a:t>fifth_category · 五级分类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285232"/>
            <a:ext cx="2884932" cy="347472"/>
          </a:xfrm>
          <a:prstGeom prst="rect">
            <a:avLst/>
          </a:prstGeom>
          <a:solidFill>
            <a:srgbClr val="0A182A"/>
          </a:solidFill>
          <a:ln w="9525">
            <a:solidFill>
              <a:srgbClr val="2A5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5340096"/>
            <a:ext cx="27934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99E1"/>
                </a:solidFill>
                <a:latin typeface="Microsoft YaHei"/>
              </a:rPr>
              <a:t>first_category · 一级分类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3028" y="5285232"/>
            <a:ext cx="2020824" cy="347472"/>
          </a:xfrm>
          <a:prstGeom prst="rect">
            <a:avLst/>
          </a:prstGeom>
          <a:solidFill>
            <a:srgbClr val="0D1320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62756" y="5340096"/>
            <a:ext cx="1929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Microsoft YaHei"/>
              </a:rPr>
              <a:t>content · 原声评论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83580" y="5285232"/>
            <a:ext cx="2638044" cy="347472"/>
          </a:xfrm>
          <a:prstGeom prst="rect">
            <a:avLst/>
          </a:prstGeom>
          <a:solidFill>
            <a:srgbClr val="0D1320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93308" y="5340096"/>
            <a:ext cx="25466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Microsoft YaHei"/>
              </a:rPr>
              <a:t>comment_time · 评论时间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31352" y="5285232"/>
            <a:ext cx="3255264" cy="347472"/>
          </a:xfrm>
          <a:prstGeom prst="rect">
            <a:avLst/>
          </a:prstGeom>
          <a:solidFill>
            <a:srgbClr val="0D1320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41080" y="5340096"/>
            <a:ext cx="3163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Microsoft YaHei"/>
              </a:rPr>
              <a:t>keywords_emotion · 关键词情感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5742432"/>
            <a:ext cx="3872484" cy="347472"/>
          </a:xfrm>
          <a:prstGeom prst="rect">
            <a:avLst/>
          </a:prstGeom>
          <a:solidFill>
            <a:srgbClr val="0D1320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5797296"/>
            <a:ext cx="37810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Microsoft YaHei"/>
              </a:rPr>
              <a:t>business_category_name · 业务分类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40580" y="5742432"/>
            <a:ext cx="2020824" cy="347472"/>
          </a:xfrm>
          <a:prstGeom prst="rect">
            <a:avLst/>
          </a:prstGeom>
          <a:solidFill>
            <a:srgbClr val="0D1320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0308" y="5797296"/>
            <a:ext cx="1929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Microsoft YaHei"/>
              </a:rPr>
              <a:t>is_show · 是否展示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71132" y="5742432"/>
            <a:ext cx="3008376" cy="347472"/>
          </a:xfrm>
          <a:prstGeom prst="rect">
            <a:avLst/>
          </a:prstGeom>
          <a:solidFill>
            <a:srgbClr val="0D1320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80860" y="5797296"/>
            <a:ext cx="29169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Microsoft YaHei"/>
              </a:rPr>
              <a:t>source_sound_id · 声量ID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75488"/>
            <a:ext cx="813816" cy="274320"/>
          </a:xfrm>
          <a:prstGeom prst="rect">
            <a:avLst/>
          </a:prstGeom>
          <a:solidFill>
            <a:srgbClr val="0A1A2E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12064"/>
            <a:ext cx="813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299E1"/>
                </a:solidFill>
                <a:latin typeface="Microsoft YaHei"/>
              </a:rPr>
              <a:t>价值总结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1091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2E8F0"/>
                </a:solidFill>
                <a:latin typeface="Microsoft YaHei"/>
              </a:rPr>
              <a:t>让每一位业务人员都能成为数据分析师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3611880" cy="3913632"/>
          </a:xfrm>
          <a:prstGeom prst="rect">
            <a:avLst/>
          </a:prstGeom>
          <a:solidFill>
            <a:srgbClr val="0D1320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4299E1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1635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2E8F0"/>
                </a:solidFill>
                <a:latin typeface="Microsoft YaHei"/>
              </a:rPr>
              <a:t>降低门槛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18096"/>
                </a:solidFill>
                <a:latin typeface="Microsoft YaHei"/>
              </a:rPr>
              <a:t>无需SQL，无需数据背景，用母语提问即可获得专业级数据洞察，分析效率提升 10 倍。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98848" y="1719072"/>
            <a:ext cx="3611880" cy="3913632"/>
          </a:xfrm>
          <a:prstGeom prst="rect">
            <a:avLst/>
          </a:prstGeom>
          <a:solidFill>
            <a:srgbClr val="0D1320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901952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76E4F7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81635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2E8F0"/>
                </a:solidFill>
                <a:latin typeface="Microsoft YaHei"/>
              </a:rPr>
              <a:t>实时响应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42900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18096"/>
                </a:solidFill>
                <a:latin typeface="Microsoft YaHei"/>
              </a:rPr>
              <a:t>从提问到结果 &lt; 2 秒，批量洞察分析分钟内完成，支持决策会议现场临时提问。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9328" y="1719072"/>
            <a:ext cx="3611880" cy="3913632"/>
          </a:xfrm>
          <a:prstGeom prst="rect">
            <a:avLst/>
          </a:prstGeom>
          <a:solidFill>
            <a:srgbClr val="0D1320"/>
          </a:solidFill>
          <a:ln w="9525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1901952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68D391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81635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2E8F0"/>
                </a:solidFill>
                <a:latin typeface="Microsoft YaHei"/>
              </a:rPr>
              <a:t>可扩展集成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42900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18096"/>
                </a:solidFill>
                <a:latin typeface="Microsoft YaHei"/>
              </a:rPr>
              <a:t>封装为 Agent SKILL，可无缝嵌入任意 AI 工作流平台，输出通用 Markdown 格式报告。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5870448"/>
            <a:ext cx="10872216" cy="16459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016752"/>
            <a:ext cx="108722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18096"/>
                </a:solidFill>
                <a:latin typeface="Microsoft YaHei"/>
              </a:rPr>
              <a:t>VoC 智能洞察平台 — 数据驱动决策，洞察触手可及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